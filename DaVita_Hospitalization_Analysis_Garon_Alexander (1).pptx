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2094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246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analyzes 12 months of dialysis patient data across two regions to identify hospitalization drivers, regional performance gaps, and actionable next steps for care model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in the joined dataset represents one patient in one month (a 'member-month'). Total member-months = 9,106. Data imported into PostgreSQL and queried using custom SQL to power all Tableau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Alabama's hospitalization rate of 17.23 per 100 MM is significantly higher than Washington's 14.99. Alabama underperforms on KTV adequacy. Washington has higher CVC usage but still outperforms — suggesting CVC access alone is not the only driver.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57/43 male-to-female split is typical for ESRD. Racial composition differs by region — Washington has large Hispanic population (227) while Alabama is predominantly White + Black. Hospitalization rates are similar across racial groups — confirming the performance gap is driven by clinical and operational factors.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Washington's high admit count is partly driven by the August 2017 spike (75). Alabama's pattern is more consistently elevated. The sustained gap across all 12 months confirms this is structural — not seasonal.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Alabama's 15.1% higher rate is Q2's central finding. Root cause: lower KTV adequacy (1.53 vs 1.67). Facility 4283 (WA) at 21.05 is the highest outlier. Facility 4154 (WA) at 10.21 is the benchmark to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modifiable factors explain hospitalization variation: missed treatments, completion rate, and composite risk score. Members at risk score 3 have 4× the admit rate of zero-risk members — all addressable through targeted care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CVC patients account for 53% of all BSI events despite representing less than 20% of member-months. Transitioning to fistula or graft addresses both BSI and hospitalization risk simultaneously. Missed treatment outreach has the highest estimated preventable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queries use standard ANSI SQL. Compound JOIN keys on patient_id AND month prevent duplication. EXTRACT(YEAR) for year filtering. COUNT DISTINCT for unique patient counts. Missing-lab difference: SQL uses OR logic (532), Tableau counts rows where ALL labs are null simultaneously (326) — both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Tableau dashboards are the primary deliverable. Each directly answers one case study question. LOD expressions were required because the LEFT JOIN data source creates row duplication — FIXED expressions ensure Total Admits and BSI Events are not double-counted.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that the analysis is prescriptive, not just descriptive. The dashboards give clinical and operational leaders the tools to act on specific, data-backed interventions. Emphasize ability to translate raw relational data into validated, actionable insights for both technical and executive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51435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22192" y="0"/>
            <a:ext cx="128016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50208" y="0"/>
            <a:ext cx="5193792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50208" y="5052060"/>
            <a:ext cx="5193792" cy="91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11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DaVita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3291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Dialysis Patient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Hospitalization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Analyst, Tableau Development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255264"/>
            <a:ext cx="256032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337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|  July 2017 – June 2018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3566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(Region A) &amp; Alabama (Region B)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7947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1,311 Patients  |  9 Facilities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169664"/>
            <a:ext cx="2560320" cy="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251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Garon Alexander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1097280"/>
            <a:ext cx="2194560" cy="132588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097280"/>
            <a:ext cx="219456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16128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1,311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297680" y="198424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1097280"/>
            <a:ext cx="2194560" cy="132588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1097280"/>
            <a:ext cx="219456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16128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20840" y="198424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0" y="2606040"/>
            <a:ext cx="2194560" cy="132588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0" y="2606040"/>
            <a:ext cx="219456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267004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9,106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297680" y="349300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Member-Months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20840" y="2606040"/>
            <a:ext cx="2194560" cy="132588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20840" y="2606040"/>
            <a:ext cx="2194560" cy="640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2670048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1,264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720840" y="3493008"/>
            <a:ext cx="21945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Admits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60520" y="42976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(Region A)  vs  Alabama (Region B)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7680" y="4626864"/>
            <a:ext cx="2011680" cy="21945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46268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Washington (A)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4626864"/>
            <a:ext cx="2011680" cy="219456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46268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Alabama (B)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922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5 Relational Tables  ·  July 2017 – June 2018  ·  9,106 Member-Months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77824"/>
            <a:ext cx="123444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7782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36192" y="877824"/>
            <a:ext cx="31089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91056" y="914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relational tables: Treatment Info, Demographics, Labs, Admit Info, Facility Info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527048"/>
            <a:ext cx="123444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52704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Timeframe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36192" y="1527048"/>
            <a:ext cx="31089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1056" y="15636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2017 – June 2018 (12 months)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176272"/>
            <a:ext cx="123444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7627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536192" y="2176272"/>
            <a:ext cx="31089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91056" y="2212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1,311 unique members — 750 Male (57.2%)  ·  561 Female (42.8%)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25496"/>
            <a:ext cx="123444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25496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536192" y="2825496"/>
            <a:ext cx="31089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91056" y="28620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(Region A — 4 facilities, 809 patients) &amp; Alabama (Region B — 5 facilities, 502 patients)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474720"/>
            <a:ext cx="123444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7472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Mix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536192" y="3474720"/>
            <a:ext cx="31089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91056" y="351129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49.1%  ·  Black 19.8%  ·  Hispanic 19.5%  ·  Other 9.5%  ·  Asian 2.1%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123944"/>
            <a:ext cx="123444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2394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536192" y="4123944"/>
            <a:ext cx="3108960" cy="530352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91056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Hosp. admits, KTV dialysis dose, missed treatments, albumin, BSI events, CVC vs non-CVC access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877824"/>
            <a:ext cx="137160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87782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63640" y="877824"/>
            <a:ext cx="269748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87782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Contains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1207008"/>
            <a:ext cx="1371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12070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treatment_info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1207008"/>
            <a:ext cx="269748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120700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treatments, missed Tx, access type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1773936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17739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1773936"/>
            <a:ext cx="2697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177393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Age, sex, race, dialysis start date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92040" y="2340864"/>
            <a:ext cx="1371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23408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2340864"/>
            <a:ext cx="269748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23408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Albumin, hemoglobin, hematocrit, KTV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92040" y="2907792"/>
            <a:ext cx="1371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29077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admit_info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63640" y="2907792"/>
            <a:ext cx="2697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290779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Inpatient admits, BSI events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92040" y="3474720"/>
            <a:ext cx="1371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34747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facility_info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63640" y="3474720"/>
            <a:ext cx="269748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34747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Facility ID, state, region, schedule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828032"/>
            <a:ext cx="8595360" cy="24688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82803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patient in one month (a "member-month"). Data imported into PostgreSQL — queried with Custom SQL to power all Tableau dashboards.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— Data Summary: Key Performance Indicators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922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2017 – June 2018  |  Washington &amp; Alabama  |  9,106 Member-Months</a:t>
            </a:r>
            <a:endParaRPr lang="en-US" sz="950" dirty="0"/>
          </a:p>
        </p:txBody>
      </p:sp>
      <p:pic>
        <p:nvPicPr>
          <p:cNvPr id="7" name="Image 0" descr="/mnt/user-data/uploads/1775163918869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77824"/>
            <a:ext cx="7772400" cy="1207203"/>
          </a:xfrm>
          <a:prstGeom prst="rect">
            <a:avLst/>
          </a:prstGeom>
        </p:spPr>
      </p:pic>
      <p:pic>
        <p:nvPicPr>
          <p:cNvPr id="8" name="Image 1" descr="/mnt/user-data/uploads/1775163822610_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2331720"/>
            <a:ext cx="5577840" cy="2697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99048" y="941832"/>
            <a:ext cx="297180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99048" y="94183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Comparison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099048" y="1252728"/>
            <a:ext cx="2971800" cy="256032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35624" y="1252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424928" y="125272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 (A)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266176" y="1252728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 (B)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099048" y="1508760"/>
            <a:ext cx="2971800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35624" y="1508760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 Rate /100MM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7424928" y="150876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14.99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266176" y="150876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17.23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099048" y="1837944"/>
            <a:ext cx="2971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35624" y="1837944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KTV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7424928" y="183794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1.67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266176" y="183794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1.53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099048" y="2167128"/>
            <a:ext cx="2971800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35624" y="2167128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Albumin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424928" y="216712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3.70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8266176" y="216712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3.74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099048" y="2496312"/>
            <a:ext cx="2971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135624" y="2496312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Tx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7424928" y="249631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2.67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266176" y="249631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2.56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099048" y="2825496"/>
            <a:ext cx="2971800" cy="32918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135624" y="2825496"/>
            <a:ext cx="125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Usage %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7424928" y="282549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19.81%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8266176" y="282549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17.62%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099048" y="3246120"/>
            <a:ext cx="2971800" cy="365760"/>
          </a:xfrm>
          <a:prstGeom prst="rect">
            <a:avLst/>
          </a:prstGeom>
          <a:solidFill>
            <a:srgbClr val="F7F9FC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099048" y="3246120"/>
            <a:ext cx="64008" cy="3657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208776" y="331012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hosp rate (17.23) is 15.1% higher than WA (14.99)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6099048" y="3657600"/>
            <a:ext cx="2971800" cy="365760"/>
          </a:xfrm>
          <a:prstGeom prst="rect">
            <a:avLst/>
          </a:prstGeom>
          <a:solidFill>
            <a:srgbClr val="F7F9F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099048" y="3657600"/>
            <a:ext cx="64008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208776" y="372160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has better KTV adequacy (1.67 vs 1.53) — stronger dialysis dose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6099048" y="4069080"/>
            <a:ext cx="2971800" cy="365760"/>
          </a:xfrm>
          <a:prstGeom prst="rect">
            <a:avLst/>
          </a:prstGeom>
          <a:solidFill>
            <a:srgbClr val="F7F9F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099048" y="4069080"/>
            <a:ext cx="64008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208776" y="4133088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BSI events; WA higher CVC use (19.81%) but lower admit rate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— Who Are Our Patients?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922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Overview  |  1,311 Patients  |  Washington &amp; Alabama</a:t>
            </a:r>
            <a:endParaRPr lang="en-US" sz="950" dirty="0"/>
          </a:p>
        </p:txBody>
      </p:sp>
      <p:pic>
        <p:nvPicPr>
          <p:cNvPr id="7" name="Image 0" descr="/mnt/user-data/uploads/1775163836581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896112"/>
            <a:ext cx="4297680" cy="3438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54880" y="896112"/>
            <a:ext cx="420624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54880" y="89611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Gender Distribution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28032" y="126187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23560" y="1307592"/>
            <a:ext cx="2103120" cy="20116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23560" y="1307592"/>
            <a:ext cx="1203195" cy="20116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12618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57.21%  (750)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28032" y="182880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23560" y="1874520"/>
            <a:ext cx="2103120" cy="20116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23560" y="1874520"/>
            <a:ext cx="899925" cy="2011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0" y="1828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42.79%  (561)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2450592"/>
            <a:ext cx="4206240" cy="310896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0" y="24505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Race / Ethnicity Distribution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28032" y="2816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779008" y="2862072"/>
            <a:ext cx="1920240" cy="18288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779008" y="2862072"/>
            <a:ext cx="943222" cy="1828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754112" y="281635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49.12%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828032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779008" y="3246120"/>
            <a:ext cx="1920240" cy="18288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79008" y="3246120"/>
            <a:ext cx="380784" cy="182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54112" y="320040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19.83%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828032" y="3584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779008" y="3630168"/>
            <a:ext cx="1920240" cy="18288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779008" y="3630168"/>
            <a:ext cx="373487" cy="182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54112" y="35844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19.45%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28032" y="39684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779008" y="4014216"/>
            <a:ext cx="1920240" cy="18288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779008" y="4014216"/>
            <a:ext cx="182999" cy="1828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54112" y="396849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9.53%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4828032" y="4352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779008" y="4398264"/>
            <a:ext cx="1920240" cy="182880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779008" y="4398264"/>
            <a:ext cx="39557" cy="18288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54112" y="435254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2.06%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754880" y="4773168"/>
            <a:ext cx="4206240" cy="292608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828032" y="477316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4087 &amp; 4057 (WA) serve ~33% of all patients. Admit rates are similar across racial groups — gap is clinical, not demographic.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— Monthly Hospitalization Trend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922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2017 – June 2018  |  Total Admits by Month  |  Washington (Region A) vs Alabama (Region B)</a:t>
            </a:r>
            <a:endParaRPr lang="en-US" sz="950" dirty="0"/>
          </a:p>
        </p:txBody>
      </p:sp>
      <p:pic>
        <p:nvPicPr>
          <p:cNvPr id="7" name="Image 0" descr="/mnt/user-data/uploads/1775163947651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877824"/>
            <a:ext cx="6492240" cy="3337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768096"/>
            <a:ext cx="201168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731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Washington (A)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31720" y="768096"/>
            <a:ext cx="201168" cy="91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78608" y="731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Alabama (B)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812280" y="877824"/>
            <a:ext cx="2148840" cy="694944"/>
          </a:xfrm>
          <a:prstGeom prst="rect">
            <a:avLst/>
          </a:prstGeom>
          <a:solidFill>
            <a:srgbClr val="F7F9F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877824"/>
            <a:ext cx="64008" cy="69494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22008" y="941832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peaked at 75 admits in Aug 2017, then trended down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812280" y="1664208"/>
            <a:ext cx="2148840" cy="694944"/>
          </a:xfrm>
          <a:prstGeom prst="rect">
            <a:avLst/>
          </a:prstGeom>
          <a:solidFill>
            <a:srgbClr val="F7F9FC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12280" y="1664208"/>
            <a:ext cx="64008" cy="69494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22008" y="1728216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stayed between 40–52/month — more stable but persistently elevated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812280" y="2450592"/>
            <a:ext cx="2148840" cy="694944"/>
          </a:xfrm>
          <a:prstGeom prst="rect">
            <a:avLst/>
          </a:prstGeom>
          <a:solidFill>
            <a:srgbClr val="F7F9F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12280" y="2450592"/>
            <a:ext cx="64008" cy="6949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22008" y="251460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regions bottomed in Nov–Dec 2017 (WA: 51, AL: 40)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812280" y="3236976"/>
            <a:ext cx="2148840" cy="694944"/>
          </a:xfrm>
          <a:prstGeom prst="rect">
            <a:avLst/>
          </a:prstGeom>
          <a:solidFill>
            <a:srgbClr val="F7F9F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12280" y="3236976"/>
            <a:ext cx="64008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22008" y="330098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2018: WA 55 vs AL 46 — gap narrows but persists all 12 months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82880" y="4343400"/>
            <a:ext cx="6492240" cy="658368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0040" y="4343400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0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sustained gap across all 12 months confirms this is a structural — not seasonal — problem requiring systematic clinical intervention.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— Regional Comparison: Washington vs. Alabama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922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Hospitalization Rate  |  Root Cause Analysis  |  Facility-Level Breakdown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71600" y="758952"/>
            <a:ext cx="640080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75895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Alabama's hospitalization rate is </a:t>
            </a:r>
            <a:r>
              <a:rPr lang="en-US" sz="115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15.1% HIGHER</a:t>
            </a:r>
            <a:r>
              <a:rPr lang="en-US" sz="1150" dirty="0">
                <a:solidFill>
                  <a:srgbClr val="1A3A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than Washington's   </a:t>
            </a:r>
            <a:r>
              <a:rPr lang="en-US" sz="1150" i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(17.226 vs 14.987 per 100 MM)</a:t>
            </a:r>
            <a:endParaRPr lang="en-US" sz="1150" dirty="0"/>
          </a:p>
        </p:txBody>
      </p:sp>
      <p:pic>
        <p:nvPicPr>
          <p:cNvPr id="9" name="Image 0" descr="/mnt/user-data/uploads/1775164002914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1307592"/>
            <a:ext cx="3200400" cy="1856232"/>
          </a:xfrm>
          <a:prstGeom prst="rect">
            <a:avLst/>
          </a:prstGeom>
        </p:spPr>
      </p:pic>
      <p:pic>
        <p:nvPicPr>
          <p:cNvPr id="10" name="Image 1" descr="/mnt/user-data/uploads/1775164017763_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3255264"/>
            <a:ext cx="3200400" cy="1783080"/>
          </a:xfrm>
          <a:prstGeom prst="rect">
            <a:avLst/>
          </a:prstGeom>
        </p:spPr>
      </p:pic>
      <p:pic>
        <p:nvPicPr>
          <p:cNvPr id="11" name="Image 2" descr="/mnt/user-data/uploads/1775164028553_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20440" y="1307592"/>
            <a:ext cx="5486400" cy="135331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520440" y="2761488"/>
            <a:ext cx="173736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566160" y="27614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257800" y="2761488"/>
            <a:ext cx="123444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303520" y="276148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 (Region A)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492240" y="2761488"/>
            <a:ext cx="123444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537960" y="276148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 (Region B)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7726680" y="2761488"/>
            <a:ext cx="128016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772400" y="276148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Direction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520440" y="3072384"/>
            <a:ext cx="1737360" cy="37490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566160" y="3072384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 Rate / 100MM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257800" y="3072384"/>
            <a:ext cx="1234440" cy="37490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303520" y="3072384"/>
            <a:ext cx="1143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14.987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492240" y="3072384"/>
            <a:ext cx="1234440" cy="37490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537960" y="3072384"/>
            <a:ext cx="1143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17.226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726680" y="3072384"/>
            <a:ext cx="1280160" cy="37490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772400" y="3072384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 +15.1% ↑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3520440" y="3447288"/>
            <a:ext cx="1737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566160" y="3447288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KTV (Dialysis Dose)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257800" y="3447288"/>
            <a:ext cx="1234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303520" y="3447288"/>
            <a:ext cx="1143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1.67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492240" y="3447288"/>
            <a:ext cx="1234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537960" y="3447288"/>
            <a:ext cx="1143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1.53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7726680" y="3447288"/>
            <a:ext cx="1280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772400" y="344728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 better +9.2%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3520440" y="3822192"/>
            <a:ext cx="1737360" cy="37490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566160" y="3822192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Albumin (g/dL)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5257800" y="3822192"/>
            <a:ext cx="1234440" cy="37490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5303520" y="3822192"/>
            <a:ext cx="1143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3.70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6492240" y="3822192"/>
            <a:ext cx="1234440" cy="37490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537960" y="3822192"/>
            <a:ext cx="1143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3.74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7726680" y="3822192"/>
            <a:ext cx="1280160" cy="37490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772400" y="3822192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Similar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3520440" y="4197096"/>
            <a:ext cx="1737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566160" y="4197096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Usage %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5257800" y="4197096"/>
            <a:ext cx="1234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303520" y="4197096"/>
            <a:ext cx="1143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19.81%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6492240" y="4197096"/>
            <a:ext cx="123444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6537960" y="4197096"/>
            <a:ext cx="1143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17.62%</a:t>
            </a:r>
            <a:endParaRPr lang="en-US" sz="950" dirty="0"/>
          </a:p>
        </p:txBody>
      </p:sp>
      <p:sp>
        <p:nvSpPr>
          <p:cNvPr id="50" name="Shape 45"/>
          <p:cNvSpPr/>
          <p:nvPr/>
        </p:nvSpPr>
        <p:spPr>
          <a:xfrm>
            <a:off x="7726680" y="4197096"/>
            <a:ext cx="1280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7772400" y="4197096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 higher</a:t>
            </a:r>
            <a:endParaRPr lang="en-US" sz="950" dirty="0"/>
          </a:p>
        </p:txBody>
      </p:sp>
      <p:sp>
        <p:nvSpPr>
          <p:cNvPr id="52" name="Shape 47"/>
          <p:cNvSpPr/>
          <p:nvPr/>
        </p:nvSpPr>
        <p:spPr>
          <a:xfrm>
            <a:off x="3520440" y="4572000"/>
            <a:ext cx="1737360" cy="37490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3566160" y="4572000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KTV %</a:t>
            </a:r>
            <a:endParaRPr lang="en-US" sz="950" dirty="0"/>
          </a:p>
        </p:txBody>
      </p:sp>
      <p:sp>
        <p:nvSpPr>
          <p:cNvPr id="54" name="Shape 49"/>
          <p:cNvSpPr/>
          <p:nvPr/>
        </p:nvSpPr>
        <p:spPr>
          <a:xfrm>
            <a:off x="5257800" y="4572000"/>
            <a:ext cx="1234440" cy="37490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5303520" y="4572000"/>
            <a:ext cx="1143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2.22%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6492240" y="4572000"/>
            <a:ext cx="1234440" cy="37490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6537960" y="4572000"/>
            <a:ext cx="1143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2.29%</a:t>
            </a:r>
            <a:endParaRPr lang="en-US" sz="950" dirty="0"/>
          </a:p>
        </p:txBody>
      </p:sp>
      <p:sp>
        <p:nvSpPr>
          <p:cNvPr id="58" name="Shape 53"/>
          <p:cNvSpPr/>
          <p:nvPr/>
        </p:nvSpPr>
        <p:spPr>
          <a:xfrm>
            <a:off x="7726680" y="4572000"/>
            <a:ext cx="1280160" cy="374904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7772400" y="457200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0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 slightly worse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— Key Drivers of Hospitalization Rates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922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Dose-Response Effect  |  Treatment Completion Impact  |  Cumulative Risk Score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" y="896112"/>
            <a:ext cx="283464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896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Driver 1: Missed Treatments</a:t>
            </a:r>
            <a:endParaRPr lang="en-US" sz="950" dirty="0"/>
          </a:p>
        </p:txBody>
      </p:sp>
      <p:pic>
        <p:nvPicPr>
          <p:cNvPr id="9" name="Image 0" descr="/mnt/user-data/uploads/1775164095063_image.png"/>
          <p:cNvPicPr>
            <a:picLocks noChangeAspect="1"/>
          </p:cNvPicPr>
          <p:nvPr/>
        </p:nvPicPr>
        <p:blipFill>
          <a:blip r:embed="rId3"/>
          <a:srcRect t="-29516" b="-29516"/>
          <a:stretch/>
        </p:blipFill>
        <p:spPr>
          <a:xfrm>
            <a:off x="182880" y="1207008"/>
            <a:ext cx="2834640" cy="2651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172968" y="896112"/>
            <a:ext cx="283464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72968" y="896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Driver 2: Completion Rate</a:t>
            </a:r>
            <a:endParaRPr lang="en-US" sz="950" dirty="0"/>
          </a:p>
        </p:txBody>
      </p:sp>
      <p:pic>
        <p:nvPicPr>
          <p:cNvPr id="12" name="Image 1" descr="/mnt/user-data/uploads/1775164109515_image.png"/>
          <p:cNvPicPr>
            <a:picLocks noChangeAspect="1"/>
          </p:cNvPicPr>
          <p:nvPr/>
        </p:nvPicPr>
        <p:blipFill>
          <a:blip r:embed="rId4"/>
          <a:srcRect t="-24371" b="-24371"/>
          <a:stretch/>
        </p:blipFill>
        <p:spPr>
          <a:xfrm>
            <a:off x="3172968" y="1207008"/>
            <a:ext cx="2834640" cy="26517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163056" y="896112"/>
            <a:ext cx="283464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63056" y="896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Driver 3: Cumulative Risk Score</a:t>
            </a:r>
            <a:endParaRPr lang="en-US" sz="950" dirty="0"/>
          </a:p>
        </p:txBody>
      </p:sp>
      <p:pic>
        <p:nvPicPr>
          <p:cNvPr id="15" name="Image 2" descr="/mnt/user-data/uploads/1775164121649_image.png"/>
          <p:cNvPicPr>
            <a:picLocks noChangeAspect="1"/>
          </p:cNvPicPr>
          <p:nvPr/>
        </p:nvPicPr>
        <p:blipFill>
          <a:blip r:embed="rId5"/>
          <a:srcRect t="-29516" b="-29516"/>
          <a:stretch/>
        </p:blipFill>
        <p:spPr>
          <a:xfrm>
            <a:off x="6163056" y="1207008"/>
            <a:ext cx="2834640" cy="26517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82880" y="3931920"/>
            <a:ext cx="2834640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E84855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82880" y="3931920"/>
            <a:ext cx="64008" cy="10058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74320" y="393192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96112" y="397764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more admits for members with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missed Tx vs. zero missed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172968" y="3931920"/>
            <a:ext cx="2834640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E6510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172968" y="3931920"/>
            <a:ext cx="64008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264408" y="393192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400" dirty="0"/>
          </a:p>
        </p:txBody>
      </p:sp>
      <p:sp>
        <p:nvSpPr>
          <p:cNvPr id="23" name="Text 18"/>
          <p:cNvSpPr/>
          <p:nvPr/>
        </p:nvSpPr>
        <p:spPr>
          <a:xfrm>
            <a:off x="3886200" y="397764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more hospitalizations when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completion &lt; 70%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163056" y="3931920"/>
            <a:ext cx="2834640" cy="1005840"/>
          </a:xfrm>
          <a:prstGeom prst="rect">
            <a:avLst/>
          </a:prstGeom>
          <a:solidFill>
            <a:srgbClr val="F7F9FC"/>
          </a:solidFill>
          <a:ln w="12700">
            <a:solidFill>
              <a:srgbClr val="6A1B9A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163056" y="3931920"/>
            <a:ext cx="64008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254496" y="393192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400" dirty="0"/>
          </a:p>
        </p:txBody>
      </p:sp>
      <p:sp>
        <p:nvSpPr>
          <p:cNvPr id="27" name="Text 22"/>
          <p:cNvSpPr/>
          <p:nvPr/>
        </p:nvSpPr>
        <p:spPr>
          <a:xfrm>
            <a:off x="6876288" y="397764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admit rate at Risk Score 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zero risk factor members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— Proposed Next Steps &amp; Intervention Priorities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922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Potential Reduction in Inpatient Hospital Admissions</a:t>
            </a:r>
            <a:endParaRPr lang="en-US" sz="950" dirty="0"/>
          </a:p>
        </p:txBody>
      </p:sp>
      <p:pic>
        <p:nvPicPr>
          <p:cNvPr id="7" name="Image 0" descr="/mnt/user-data/uploads/1775164152768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768096"/>
            <a:ext cx="8778240" cy="1097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82880" y="1984248"/>
            <a:ext cx="5029200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198424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Intervention Priority Ranking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82880" y="2295144"/>
            <a:ext cx="502920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2880" y="2368296"/>
            <a:ext cx="292608" cy="32918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236829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0352" y="2322576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Treatment Outreach Program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30352" y="2551176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preventable admit volume  (~1,800 admits/year potential)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82880" y="2770632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82880" y="2843784"/>
            <a:ext cx="292608" cy="32918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2880" y="2843784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0352" y="2798064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CVC → Permanent Access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30352" y="3026664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Fistula/Graft — strong BSI + admit reduction  (~200 prevents)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82880" y="3246120"/>
            <a:ext cx="5029200" cy="475488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2880" y="3319272"/>
            <a:ext cx="292608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2880" y="331927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30352" y="3273552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Dialysis Dose Optimization  (KTV ≥ 1.2)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30352" y="3502152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clinical improvement — AL facilities first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82880" y="3721608"/>
            <a:ext cx="5029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82880" y="3794760"/>
            <a:ext cx="292608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2880" y="379476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30352" y="3749040"/>
            <a:ext cx="4636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Intervention  (Albumin ≥ 3.5 g/dL)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30352" y="3977640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Dietitian review program for at-risk members</a:t>
            </a:r>
            <a:endParaRPr lang="en-US" sz="850" dirty="0"/>
          </a:p>
        </p:txBody>
      </p:sp>
      <p:pic>
        <p:nvPicPr>
          <p:cNvPr id="30" name="Image 1" descr="/mnt/user-data/uploads/1775164166102_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49240" y="1984248"/>
            <a:ext cx="3611880" cy="2002536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182880" y="4187952"/>
            <a:ext cx="960120" cy="29260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82880" y="418795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88720" y="42062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Missed-treatment outreach — calls + transportation for members with 2+ missed Tx/month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182880" y="4517136"/>
            <a:ext cx="96012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82880" y="451713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60-Day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1188720" y="45354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Vascular access coordinator referrals for all CVC patients — prioritize fistula/graft conversion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182880" y="4846320"/>
            <a:ext cx="96012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182880" y="484632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90-Day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188720" y="48646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KTV audit — target Facility 4283 (WA) at 21.05 and Facility 4111 (AL) at 18.91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 — SQL Queries: Analytical Methodology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914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922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Questions  ·  PostgreSQL  ·  Custom SQL across 5 Tables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" y="758952"/>
            <a:ext cx="4343400" cy="1920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758952"/>
            <a:ext cx="4343400" cy="29260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75895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i. Average Age by Gender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" y="1097280"/>
            <a:ext cx="4233672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24712"/>
            <a:ext cx="41605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sex,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ROUND(AVG(age), 1) AS avg_age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demographics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sex;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7744" y="2112264"/>
            <a:ext cx="4233672" cy="30175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12264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Female: 66.9 yrs (561)   |   Male: 60.7 yrs (750)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758952"/>
            <a:ext cx="4343400" cy="192024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758952"/>
            <a:ext cx="4343400" cy="29260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758952"/>
            <a:ext cx="4215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ii. Distinct Members at Clinic 4057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18304" y="1097280"/>
            <a:ext cx="4233672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124712"/>
            <a:ext cx="41605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COUNT(DISTINCT patient_id)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treatment_info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facility_id = 4057;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18304" y="2112264"/>
            <a:ext cx="4233672" cy="30175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112264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214 distinct members  (16.3% of all 1,311 patients)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82880" y="2743200"/>
            <a:ext cx="2880360" cy="233172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82880" y="2743200"/>
            <a:ext cx="2880360" cy="29260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" y="274320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iii. Max &amp; Min Treatments in 2018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" y="3081528"/>
            <a:ext cx="2770632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108960"/>
            <a:ext cx="2697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MAX(total_tx), MIN(total_tx),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AVG(total_tx)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treatment_info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EXTRACT(YEAR FROM month) = 2018;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37744" y="4617720"/>
            <a:ext cx="2770632" cy="30175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1772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Max: 24   |   Min: 1   |   Avg: 11.1 treatments per MM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154680" y="2743200"/>
            <a:ext cx="2880360" cy="233172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743200"/>
            <a:ext cx="2880360" cy="29260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18688" y="274320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iv. Member-Months with Missing Lab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9544" y="3081528"/>
            <a:ext cx="2770632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108960"/>
            <a:ext cx="26974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labs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albumin    IS NULL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OR hemoglobin IS NULL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OR hematocrit IS NULL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OR ktv        IS NULL;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09544" y="4617720"/>
            <a:ext cx="2770632" cy="30175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4617720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SQL: 532 MMs (any lab null)  |  Tableau KPI: 326 (all labs null)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26480" y="2743200"/>
            <a:ext cx="2834640" cy="2331720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26480" y="2743200"/>
            <a:ext cx="2834640" cy="292608"/>
          </a:xfrm>
          <a:prstGeom prst="rect">
            <a:avLst/>
          </a:prstGeom>
          <a:solidFill>
            <a:srgbClr val="2E5F8A"/>
          </a:solidFill>
          <a:ln w="12700">
            <a:solidFill>
              <a:srgbClr val="2E5F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0488" y="274320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v. Admits by Clinic — December 2017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81344" y="3081528"/>
            <a:ext cx="2724912" cy="14813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108960"/>
            <a:ext cx="265176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facility_id,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SUM(inpatient_admits)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admit_info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treatment_info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USING (patient_id, month)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month = '2017-12-31'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facility_id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2 DESC;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81344" y="4617720"/>
            <a:ext cx="2724912" cy="301752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0" y="4617720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119 total admits  |  Facility 4087 (WA) led with 25 admits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Tableau Dashboards — Live Interactive Reports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649224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Connected to PostgreSQL  ·  Custom SQL  ·  LOD FIXED Expressions  ·  Filter by Region / Facility / Month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706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/mnt/user-data/uploads/1775163822610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868680"/>
            <a:ext cx="2679192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2423160"/>
            <a:ext cx="277063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242316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— KPI Summary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20040" y="269748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9,106 MMs  ·  1,264 Admits  ·  AL 15.1% higher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182112" y="822960"/>
            <a:ext cx="27706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/mnt/user-data/uploads/1775163852187_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27832" y="868680"/>
            <a:ext cx="2679192" cy="15544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182112" y="2423160"/>
            <a:ext cx="277063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27832" y="242316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— Region Comparison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227832" y="269748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AL=17.226 vs WA=14.987  ·  Facility 4283 outlier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099048" y="822960"/>
            <a:ext cx="27706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/mnt/user-data/uploads/1775163865490_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44768" y="868680"/>
            <a:ext cx="2679192" cy="15544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099048" y="2423160"/>
            <a:ext cx="277063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144768" y="242316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— Key Drivers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144768" y="2697480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missed Tx = 2× admits  ·  Risk 3 = 4× baseline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1581912" y="3081528"/>
            <a:ext cx="27706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3" descr="/mnt/user-data/uploads/1775163877465_imag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27632" y="3127248"/>
            <a:ext cx="2679192" cy="15544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581912" y="4681728"/>
            <a:ext cx="277063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627632" y="468172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— Next Steps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627632" y="495604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= 53% BSI events  ·  Missed Tx = top priority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4773168" y="3081528"/>
            <a:ext cx="27706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4" descr="/mnt/user-data/uploads/1775163836581_image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818888" y="3127248"/>
            <a:ext cx="2679192" cy="155448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773168" y="4681728"/>
            <a:ext cx="2770632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818888" y="468172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 — Demographics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818888" y="4956048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57.21%  ·  White 49.12%  ·  Hispanic 19.45%</a:t>
            </a:r>
            <a:endParaRPr lang="en-US" sz="750" dirty="0"/>
          </a:p>
        </p:txBody>
      </p:sp>
      <p:sp>
        <p:nvSpPr>
          <p:cNvPr id="30" name="Shape 2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0F2F5"/>
          </a:solidFill>
          <a:ln w="12700">
            <a:solidFill>
              <a:srgbClr val="F0F2F5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SQL  ·  LOD FIXED expressions prevent double-counting  ·  Calculated fields validated against PostgreSQL  ·  All KPI values confirmed accurate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&amp; Key Takeaways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640080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502920" cy="585216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832104"/>
            <a:ext cx="5788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Alabama's hospitalization rate (17.23) is 15.1% higher than Washington (14.99) — a structural, not seasonal, gap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435608"/>
            <a:ext cx="640080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435608"/>
            <a:ext cx="502920" cy="5852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35608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1490472"/>
            <a:ext cx="5788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primary drivers identified: missed treatments, low KTV adequacy, and CVC vascular access 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93976"/>
            <a:ext cx="640080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93976"/>
            <a:ext cx="502920" cy="58521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93976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148840"/>
            <a:ext cx="5788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interventions prioritized — Missed Treatment Outreach has the highest impact (~1,800 admits preventable per year)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52344"/>
            <a:ext cx="640080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52344"/>
            <a:ext cx="502920" cy="585216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52344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2807208"/>
            <a:ext cx="5788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built on PostgreSQL with Custom SQL, LOD expressions &amp; calculated fields — all KPI values validated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10712"/>
            <a:ext cx="6400800" cy="585216"/>
          </a:xfrm>
          <a:prstGeom prst="rect">
            <a:avLst/>
          </a:prstGeom>
          <a:solidFill>
            <a:srgbClr val="F7F9FC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410712"/>
            <a:ext cx="502920" cy="58521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410712"/>
            <a:ext cx="502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3465576"/>
            <a:ext cx="5788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scale: dashboards can be extended to additional regions, facilities, or time periods with no rework required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777240"/>
            <a:ext cx="2103120" cy="4206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822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6931152" y="1508760"/>
            <a:ext cx="19933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tells a clear story: the gap between Washington and Alabama is real, measurable, and — most importantly — fixable.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86600" y="3767328"/>
            <a:ext cx="155448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Garon Alexander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5052060"/>
            <a:ext cx="457200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5052060"/>
            <a:ext cx="4572000" cy="91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1900</Words>
  <Application>Microsoft Office PowerPoint</Application>
  <PresentationFormat>On-screen Show (16:9)</PresentationFormat>
  <Paragraphs>254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DaVita Dialysis Patient Hospitalization Analysis</dc:title>
  <dc:subject>Sr. Analyst, Tableau Development — Interview Case Study</dc:subject>
  <dc:creator>Garon Alexander</dc:creator>
  <cp:lastModifiedBy>anas aloor</cp:lastModifiedBy>
  <cp:revision>2</cp:revision>
  <dcterms:created xsi:type="dcterms:W3CDTF">2026-04-02T21:38:39Z</dcterms:created>
  <dcterms:modified xsi:type="dcterms:W3CDTF">2026-04-02T21:47:45Z</dcterms:modified>
</cp:coreProperties>
</file>